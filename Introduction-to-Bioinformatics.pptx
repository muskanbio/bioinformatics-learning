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 Medium"/>
      <p:regular r:id="rId201315"/>
    </p:embeddedFont>
    <p:embeddedFont>
      <p:font typeface="Noto Serif Devanagari"/>
      <p:regular r:id="rId201316"/>
    </p:embeddedFont>
    <p:embeddedFont>
      <p:font typeface="Noto Serif Devanagari Bold"/>
      <p:regular r:id="rId201317"/>
    </p:embeddedFont>
    <p:embeddedFont>
      <p:font typeface="Noto Serif Devanagari ExtraBold"/>
      <p:regular r:id="rId201318"/>
    </p:embeddedFont>
    <p:embeddedFont>
      <p:font typeface="Noto Serif Devanagari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jpe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803400"/>
            <a:ext cx="6349841" cy="3212108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3" name="Text 1"/>
          <p:cNvSpPr/>
          <p:nvPr/>
        </p:nvSpPr>
        <p:spPr>
          <a:xfrm>
            <a:off x="990575" y="2174081"/>
            <a:ext cx="619744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BIOLOGY · COMPUTATION · PATTERNS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90575" y="2435225"/>
            <a:ext cx="558786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400" spc="-88" kern="100" dirty="0">
                <a:solidFill>
                  <a:srgbClr val="1A1A1A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0"/>
              </a:rPr>
              <a:t>Introduction to Bioinformatics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90575" y="3721100"/>
            <a:ext cx="6197445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How biological questions become data questions.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0575" y="4232573"/>
            <a:ext cx="3743727" cy="31651"/>
          </a:xfrm>
          <a:prstGeom prst="roundRect">
            <a:avLst>
              <a:gd name="adj" fmla="val 49998"/>
            </a:avLst>
          </a:prstGeom>
          <a:solidFill>
            <a:srgbClr val="1B4A9B"/>
          </a:solidFill>
          <a:ln/>
        </p:spPr>
      </p:sp>
      <p:sp>
        <p:nvSpPr>
          <p:cNvPr id="7" name="Text 5"/>
          <p:cNvSpPr/>
          <p:nvPr/>
        </p:nvSpPr>
        <p:spPr>
          <a:xfrm>
            <a:off x="990575" y="4470618"/>
            <a:ext cx="6197445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6" kern="100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A first guide for undergraduate biology students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02712" cy="6223000"/>
          </a:xfrm>
          <a:prstGeom prst="rect">
            <a:avLst/>
          </a:prstGeom>
          <a:solidFill>
            <a:srgbClr val="F4B31A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33400"/>
            <a:ext cx="3464533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spc="-330" kern="100" dirty="0">
                <a:solidFill>
                  <a:srgbClr val="000000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189" y="2168326"/>
            <a:ext cx="384552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THE CORE IDEA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189" y="4539059"/>
            <a:ext cx="3464533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Biology becomes more useful when its information can be compared, searched, and interpreted.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69386" y="1075234"/>
            <a:ext cx="6212724" cy="184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spc="-22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Bioinformatics turns biological questions into data questions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369386" y="3177580"/>
            <a:ext cx="3106263" cy="31651"/>
          </a:xfrm>
          <a:prstGeom prst="roundRect">
            <a:avLst>
              <a:gd name="adj" fmla="val 49998"/>
            </a:avLst>
          </a:prstGeom>
          <a:solidFill>
            <a:srgbClr val="1B4A9B"/>
          </a:solidFill>
          <a:ln/>
        </p:spPr>
      </p:sp>
      <p:sp>
        <p:nvSpPr>
          <p:cNvPr id="8" name="Text 6"/>
          <p:cNvSpPr/>
          <p:nvPr/>
        </p:nvSpPr>
        <p:spPr>
          <a:xfrm>
            <a:off x="5369386" y="3407767"/>
            <a:ext cx="6212724" cy="173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Use computation to store, compare, visualize, and interpret biological information.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It connects biology, computer science, statistics, and data interpretation.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Core idea: biological meaning emerges from patterns in biological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66726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WHY THE FIELD EXISTS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527870"/>
            <a:ext cx="10972526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spc="-22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Biology is generating data faster than we can inspect it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2925465"/>
            <a:ext cx="3454314" cy="2045891"/>
          </a:xfrm>
          <a:prstGeom prst="roundRect">
            <a:avLst>
              <a:gd name="adj" fmla="val 559"/>
            </a:avLst>
          </a:prstGeom>
          <a:solidFill>
            <a:srgbClr val="E6EEFB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3154065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Data at scale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8179" y="3637855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Modern genomics produces large, complex datasets that need computational methods.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68691" y="2925465"/>
            <a:ext cx="3454314" cy="2045891"/>
          </a:xfrm>
          <a:prstGeom prst="roundRect">
            <a:avLst>
              <a:gd name="adj" fmla="val 559"/>
            </a:avLst>
          </a:prstGeom>
          <a:solidFill>
            <a:srgbClr val="E6EEFB"/>
          </a:solidFill>
          <a:ln/>
        </p:spPr>
      </p:sp>
      <p:sp>
        <p:nvSpPr>
          <p:cNvPr id="8" name="Text 6"/>
          <p:cNvSpPr/>
          <p:nvPr/>
        </p:nvSpPr>
        <p:spPr>
          <a:xfrm>
            <a:off x="4597285" y="3154065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Shared databases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97285" y="3637855"/>
            <a:ext cx="299712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Public databases make sequences, annotations, and publications searchable across research communities.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7797" y="2925465"/>
            <a:ext cx="3454314" cy="2045891"/>
          </a:xfrm>
          <a:prstGeom prst="roundRect">
            <a:avLst>
              <a:gd name="adj" fmla="val 559"/>
            </a:avLst>
          </a:prstGeom>
          <a:solidFill>
            <a:srgbClr val="E6EEFB"/>
          </a:solidFill>
          <a:ln/>
        </p:spPr>
      </p:sp>
      <p:sp>
        <p:nvSpPr>
          <p:cNvPr id="11" name="Text 9"/>
          <p:cNvSpPr/>
          <p:nvPr/>
        </p:nvSpPr>
        <p:spPr>
          <a:xfrm>
            <a:off x="8356391" y="3154065"/>
            <a:ext cx="299712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From data to use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56391" y="3637855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Bioinformatics makes biological information usable, not just stored.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525766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THE CENTRAL DOGMA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4648084" cy="245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spc="-22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The central dogma gives us the basic data vocabulary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3512741"/>
            <a:ext cx="464808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Bioinformatics follows information across these molecules and asks what changes, where, and why.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1012825"/>
            <a:ext cx="571486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96007" y="1203325"/>
            <a:ext cx="388610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spc="-9" kern="100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DNA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696007" y="1606550"/>
            <a:ext cx="388610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Stores genetic information.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769" y="2346325"/>
            <a:ext cx="571486" cy="1428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81750" y="2536825"/>
            <a:ext cx="360036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spc="-9" kern="100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RNA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81750" y="2940050"/>
            <a:ext cx="360036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Carries and regulates information in cells.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512" y="3873500"/>
            <a:ext cx="571486" cy="1428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67493" y="4064000"/>
            <a:ext cx="3314617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spc="-9" kern="100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Proteins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267493" y="4467225"/>
            <a:ext cx="331461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Perform many of the cell’s functions.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5" name="Text 10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243"/>
            <a:ext cx="1158211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spc="12" kern="100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 REPEATING DATA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09585" y="847328"/>
            <a:ext cx="10972526" cy="421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spc="-15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Four biological data types show up again and again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3797300"/>
            <a:ext cx="337732" cy="33774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9749" y="3797300"/>
            <a:ext cx="337732" cy="337741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13" y="3797300"/>
            <a:ext cx="337732" cy="337741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077" y="3797300"/>
            <a:ext cx="337732" cy="337741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577060"/>
          <a:ext cx="7208360" cy="914400"/>
        </p:xfrm>
        <a:graphic>
          <a:graphicData uri="http://schemas.openxmlformats.org/drawingml/2006/table">
            <a:tbl>
              <a:tblPr/>
              <a:tblGrid>
                <a:gridCol w="2162419"/>
                <a:gridCol w="5045941"/>
              </a:tblGrid>
              <a:tr h="3722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Sequences</a:t>
                      </a:r>
                      <a:endParaRPr lang="en-US" sz="135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674" marR="126674" marT="67559" marB="675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DNA, RNA, and protein strings.</a:t>
                      </a:r>
                      <a:endParaRPr lang="en-US" sz="135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674" marR="126674" marT="67559" marB="675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2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Annotations</a:t>
                      </a:r>
                      <a:endParaRPr lang="en-US" sz="135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674" marR="126674" marT="67559" marB="675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Labels for genes, variants, functions, and genomic regions.</a:t>
                      </a:r>
                      <a:endParaRPr lang="en-US" sz="135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674" marR="126674" marT="67559" marB="675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22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Expression data</a:t>
                      </a:r>
                      <a:endParaRPr lang="en-US" sz="135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674" marR="126674" marT="67559" marB="675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Measurements of which genes are active.</a:t>
                      </a:r>
                      <a:endParaRPr lang="en-US" sz="135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674" marR="126674" marT="67559" marB="675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8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Structures and interactions</a:t>
                      </a:r>
                      <a:endParaRPr lang="en-US" sz="135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674" marR="126674" marT="67559" marB="675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The shapes and relationships that help explain function.</a:t>
                      </a:r>
                      <a:endParaRPr lang="en-US" sz="135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26674" marR="126674" marT="67559" marB="67559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411" y="4121150"/>
            <a:ext cx="2061813" cy="1168301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1" name="Text 3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65884"/>
          </a:xfrm>
          <a:prstGeom prst="rect">
            <a:avLst/>
          </a:prstGeom>
          <a:solidFill>
            <a:srgbClr val="1F5E5A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370681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START WITH THE REPRESENTATION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189" y="631825"/>
            <a:ext cx="11277318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spc="-22" kern="100" dirty="0">
                <a:solidFill>
                  <a:srgbClr val="FFFFFF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A sequence is data before it is a story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189" y="1414760"/>
            <a:ext cx="1173450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Before interpretation, a biological sequence is a string over an alphabet.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2770684"/>
            <a:ext cx="3860703" cy="3452316"/>
          </a:xfrm>
          <a:prstGeom prst="rect">
            <a:avLst/>
          </a:prstGeom>
          <a:solidFill>
            <a:srgbClr val="E6EEFB"/>
          </a:solidFill>
          <a:ln w="25399">
            <a:solidFill>
              <a:srgbClr val="3463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4984" y="3405684"/>
            <a:ext cx="259073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DNA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4984" y="3889474"/>
            <a:ext cx="320032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0"/>
              </a:rPr>
              <a:t>A · C · G · 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5496" y="2770684"/>
            <a:ext cx="3860703" cy="3452316"/>
          </a:xfrm>
          <a:prstGeom prst="rect">
            <a:avLst/>
          </a:prstGeom>
          <a:solidFill>
            <a:srgbClr val="E6EEFB"/>
          </a:solidFill>
          <a:ln w="25399">
            <a:solidFill>
              <a:srgbClr val="3463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480" y="3405684"/>
            <a:ext cx="259073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Protein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00480" y="3889474"/>
            <a:ext cx="25907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A larger amino-acid alphabet.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30992" y="2770684"/>
            <a:ext cx="3860703" cy="3452316"/>
          </a:xfrm>
          <a:prstGeom prst="rect">
            <a:avLst/>
          </a:prstGeom>
          <a:solidFill>
            <a:srgbClr val="E6EEFB"/>
          </a:solidFill>
          <a:ln w="25399">
            <a:solidFill>
              <a:srgbClr val="3463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5976" y="3405684"/>
            <a:ext cx="259073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Questions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5976" y="3889474"/>
            <a:ext cx="25907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Identity · similarity · variation · function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2539936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CONTEXT MAKES DATA MEANINGFUL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92200"/>
            <a:ext cx="2539936" cy="2654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800" spc="-19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Databases add context to biological data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825879" y="609600"/>
            <a:ext cx="177796" cy="5003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A9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3736" y="609600"/>
            <a:ext cx="762080" cy="3516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36209" y="639570"/>
            <a:ext cx="298656" cy="23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" spc="-1" kern="100" dirty="0">
                <a:solidFill>
                  <a:srgbClr val="FFFFFF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Sequence Record</a:t>
            </a:r>
            <a:endParaRPr lang="en-US" sz="150" dirty="0"/>
          </a:p>
        </p:txBody>
      </p:sp>
      <p:sp>
        <p:nvSpPr>
          <p:cNvPr id="7" name="Text 4"/>
          <p:cNvSpPr/>
          <p:nvPr/>
        </p:nvSpPr>
        <p:spPr>
          <a:xfrm>
            <a:off x="6635825" y="813934"/>
            <a:ext cx="127986" cy="23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" spc="-1" kern="100" dirty="0">
                <a:solidFill>
                  <a:srgbClr val="FFFFFF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Organism</a:t>
            </a:r>
            <a:endParaRPr lang="en-US" sz="150" dirty="0"/>
          </a:p>
        </p:txBody>
      </p:sp>
      <p:sp>
        <p:nvSpPr>
          <p:cNvPr id="8" name="Text 5"/>
          <p:cNvSpPr/>
          <p:nvPr/>
        </p:nvSpPr>
        <p:spPr>
          <a:xfrm>
            <a:off x="6635825" y="846221"/>
            <a:ext cx="127986" cy="44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00" dirty="0">
                <a:solidFill>
                  <a:srgbClr val="FFFFFF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Links record to species</a:t>
            </a:r>
            <a:endParaRPr lang="en-US" sz="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818" y="756654"/>
            <a:ext cx="32000" cy="3200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25543" y="830276"/>
            <a:ext cx="127986" cy="23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" spc="-1" kern="100" dirty="0">
                <a:solidFill>
                  <a:srgbClr val="FFFFFF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Gene</a:t>
            </a:r>
            <a:endParaRPr lang="en-US" sz="150" dirty="0"/>
          </a:p>
        </p:txBody>
      </p:sp>
      <p:sp>
        <p:nvSpPr>
          <p:cNvPr id="11" name="Text 7"/>
          <p:cNvSpPr/>
          <p:nvPr/>
        </p:nvSpPr>
        <p:spPr>
          <a:xfrm>
            <a:off x="6825543" y="862563"/>
            <a:ext cx="127986" cy="6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00" dirty="0">
                <a:solidFill>
                  <a:srgbClr val="FFFFFF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Associates sequences to genes</a:t>
            </a:r>
            <a:endParaRPr lang="en-US" sz="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536" y="780274"/>
            <a:ext cx="32000" cy="320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16785" y="839840"/>
            <a:ext cx="127986" cy="23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" spc="-1" kern="100" dirty="0">
                <a:solidFill>
                  <a:srgbClr val="FFFFFF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Literature</a:t>
            </a:r>
            <a:endParaRPr lang="en-US" sz="150" dirty="0"/>
          </a:p>
        </p:txBody>
      </p:sp>
      <p:sp>
        <p:nvSpPr>
          <p:cNvPr id="14" name="Text 9"/>
          <p:cNvSpPr/>
          <p:nvPr/>
        </p:nvSpPr>
        <p:spPr>
          <a:xfrm>
            <a:off x="7016785" y="872127"/>
            <a:ext cx="127986" cy="44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00" dirty="0">
                <a:solidFill>
                  <a:srgbClr val="FFFFFF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Connects to publications</a:t>
            </a:r>
            <a:endParaRPr lang="en-US" sz="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253" y="778750"/>
            <a:ext cx="32000" cy="3200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04978" y="816982"/>
            <a:ext cx="127986" cy="23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" spc="-1" kern="100" dirty="0">
                <a:solidFill>
                  <a:srgbClr val="FFFFFF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Annotation</a:t>
            </a:r>
            <a:endParaRPr lang="en-US" sz="150" dirty="0"/>
          </a:p>
        </p:txBody>
      </p:sp>
      <p:sp>
        <p:nvSpPr>
          <p:cNvPr id="17" name="Text 11"/>
          <p:cNvSpPr/>
          <p:nvPr/>
        </p:nvSpPr>
        <p:spPr>
          <a:xfrm>
            <a:off x="7204978" y="849269"/>
            <a:ext cx="127986" cy="44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00" dirty="0">
                <a:solidFill>
                  <a:srgbClr val="FFFFFF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Functional and metadata tags</a:t>
            </a:r>
            <a:endParaRPr lang="en-US" sz="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733" y="757416"/>
            <a:ext cx="32000" cy="3200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042174" y="617458"/>
            <a:ext cx="2539936" cy="9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6" kern="100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Common resources include NCBI, Ensembl, and the UCSC Genome Browser. Always ask: what is the source, version, evidence, and meaning of an annotation?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84126"/>
            <a:ext cx="4206075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COMPARING STRINGS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045270"/>
            <a:ext cx="4206075" cy="3687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spc="-22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Alignment asks whether two sequences share a meaningful pattern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4901505"/>
            <a:ext cx="42060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Line up sequences to compare matching, missing, or changed positions.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72749" y="769045"/>
            <a:ext cx="6309361" cy="2308225"/>
          </a:xfrm>
          <a:prstGeom prst="rect">
            <a:avLst/>
          </a:prstGeom>
          <a:solidFill>
            <a:srgbClr val="E6EEFB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01344" y="997645"/>
          <a:ext cx="5852172" cy="914400"/>
        </p:xfrm>
        <a:graphic>
          <a:graphicData uri="http://schemas.openxmlformats.org/drawingml/2006/table">
            <a:tbl>
              <a:tblPr/>
              <a:tblGrid>
                <a:gridCol w="1319080"/>
                <a:gridCol w="647981"/>
                <a:gridCol w="647981"/>
                <a:gridCol w="647981"/>
                <a:gridCol w="646295"/>
                <a:gridCol w="647981"/>
                <a:gridCol w="646295"/>
                <a:gridCol w="648577"/>
              </a:tblGrid>
              <a:tr h="7111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SEQUENCE 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A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C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G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A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C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G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</a:tr>
              <a:tr h="4349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MATCHES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│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│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│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–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│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×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│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</a:tr>
              <a:tr h="7048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0"/>
                        </a:rPr>
                        <a:t>SEQUENCE B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A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C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G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–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A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4B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B3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3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G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E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272749" y="3175695"/>
            <a:ext cx="6309361" cy="1285875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8" name="Text 5"/>
          <p:cNvSpPr/>
          <p:nvPr/>
        </p:nvSpPr>
        <p:spPr>
          <a:xfrm>
            <a:off x="5501344" y="3404295"/>
            <a:ext cx="5852172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0"/>
              </a:rPr>
              <a:t>Read it as evidence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 — Similarity can suggest shared ancestry or related function. Alignment is evidence to interpret, not proof by itself.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652257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spc="13" kern="100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0"/>
              </a:rPr>
              <a:t>A FIRST LOOKUP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5912992" cy="184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spc="-22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BLAST is a first lookup for an unknown sequence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09585" y="2898080"/>
            <a:ext cx="591299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Compare a nucleotide or protein sequence with a reference database to find similar sequences and useful annotations.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3602930"/>
            <a:ext cx="1576745" cy="806450"/>
          </a:xfrm>
          <a:prstGeom prst="rect">
            <a:avLst/>
          </a:prstGeom>
          <a:solidFill>
            <a:srgbClr val="B8322A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3729930"/>
            <a:ext cx="139894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0"/>
              </a:rPr>
              <a:t>Keep asking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86330" y="3602930"/>
            <a:ext cx="4336247" cy="806450"/>
          </a:xfrm>
          <a:prstGeom prst="rect">
            <a:avLst/>
          </a:prstGeom>
          <a:solidFill>
            <a:srgbClr val="FBEAE8"/>
          </a:solidFill>
          <a:ln/>
        </p:spPr>
      </p:sp>
      <p:sp>
        <p:nvSpPr>
          <p:cNvPr id="8" name="Text 6"/>
          <p:cNvSpPr/>
          <p:nvPr/>
        </p:nvSpPr>
        <p:spPr>
          <a:xfrm>
            <a:off x="2364125" y="3729930"/>
            <a:ext cx="398065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Does the match answer the original biological question?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4561780"/>
            <a:ext cx="914377" cy="1159867"/>
          </a:xfrm>
          <a:prstGeom prst="rect">
            <a:avLst/>
          </a:prstGeom>
          <a:solidFill>
            <a:srgbClr val="FFFFFF"/>
          </a:solidFill>
          <a:ln w="12700">
            <a:solidFill>
              <a:srgbClr val="1B4A9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83" y="4650680"/>
            <a:ext cx="736582" cy="98206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439" y="1860649"/>
            <a:ext cx="3535671" cy="2609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0"/>
              </a:rPr>
              <a:t>Paste or upload:</a:t>
            </a:r>
            <a:pPr algn="l" marL="304800" indent="-304800">
              <a:lnSpc>
                <a:spcPct val="121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 a nucleotide or protein sequence.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0"/>
              </a:rPr>
              <a:t>Search:</a:t>
            </a:r>
            <a:pPr algn="l" marL="304800" indent="-304800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 a reference database for similar sequences.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0"/>
              </a:rPr>
              <a:t>Inspect:</a:t>
            </a:r>
            <a:pPr algn="l" marL="304800" indent="-304800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 the strongest matches, scores, and biological annotations.</a:t>
            </a:r>
            <a:endParaRPr lang="en-US" sz="1500" dirty="0"/>
          </a:p>
          <a:p>
            <a:pPr algn="l" marL="304800" indent="-30480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0"/>
              </a:rPr>
              <a:t>Interpret:</a:t>
            </a:r>
            <a:pPr algn="l" marL="304800" indent="-304800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 return to the original question before drawing a conclusion.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1951691" y="6452989"/>
            <a:ext cx="24000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04800"/>
            <a:ext cx="10972526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0" spc="-20" kern="100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A typical analysis moves from question to interpretation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7426" y="1574800"/>
            <a:ext cx="5336843" cy="2412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83569" y="1734905"/>
            <a:ext cx="1814918" cy="161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-5" kern="100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Define Question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3883569" y="1953937"/>
            <a:ext cx="1814918" cy="276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Define the biological question and expected evidence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605" y="1734905"/>
            <a:ext cx="96060" cy="960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83569" y="2311281"/>
            <a:ext cx="1814918" cy="161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-5" kern="100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Collect Data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883569" y="2530313"/>
            <a:ext cx="1814918" cy="138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Collect or retrieve data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605" y="2311281"/>
            <a:ext cx="96060" cy="960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83569" y="2892994"/>
            <a:ext cx="1814918" cy="161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-5" kern="100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Prepare Inputs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883569" y="3112027"/>
            <a:ext cx="1814918" cy="276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Quality-check, clean, and organize inputs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605" y="2892994"/>
            <a:ext cx="96060" cy="960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883569" y="3469371"/>
            <a:ext cx="1814918" cy="16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-5" kern="100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0"/>
              </a:rPr>
              <a:t>Analyze &amp; Interpret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3883569" y="3688403"/>
            <a:ext cx="1814918" cy="276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Run analysis; visualize results and interpret in context.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605" y="3469371"/>
            <a:ext cx="96060" cy="9606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09585" y="4140101"/>
            <a:ext cx="7213420" cy="150237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7" name="Text 10"/>
          <p:cNvSpPr/>
          <p:nvPr/>
        </p:nvSpPr>
        <p:spPr>
          <a:xfrm>
            <a:off x="838179" y="4368701"/>
            <a:ext cx="6756231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0"/>
              </a:rPr>
              <a:t>The mental model: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 biological questions become data, tools reveal patterns, and interpretation reconnects those patterns to biology.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838179" y="5027434"/>
            <a:ext cx="6756231" cy="394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150" spc="6" kern="100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0"/>
              </a:rPr>
              <a:t>Examples include alignment, expression analysis, or variant calling; visualize results, test limitations, and interpret with biological context.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7975400" y="4140101"/>
            <a:ext cx="3606710" cy="1502370"/>
          </a:xfrm>
          <a:prstGeom prst="rect">
            <a:avLst/>
          </a:prstGeom>
          <a:solidFill>
            <a:srgbClr val="E6EEFB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995" y="4395986"/>
            <a:ext cx="1747992" cy="990501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2" name="Text 14"/>
          <p:cNvSpPr/>
          <p:nvPr/>
        </p:nvSpPr>
        <p:spPr>
          <a:xfrm>
            <a:off x="11884224" y="6452989"/>
            <a:ext cx="30747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2026-10-22T15:08:01Z</dcterms:created>
  <dcterms:modified xsi:type="dcterms:W3CDTF">2026-10-22T15:08:01Z</dcterms:modified>
</cp:coreProperties>
</file>